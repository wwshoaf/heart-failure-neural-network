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  <p:sldMasterId id="2147483663" r:id="rId3"/>
  </p:sldMasterIdLst>
  <p:sldIdLst>
    <p:sldId id="256" r:id="rId4"/>
    <p:sldId id="260" r:id="rId5"/>
    <p:sldId id="261" r:id="rId6"/>
    <p:sldId id="263" r:id="rId7"/>
    <p:sldId id="271" r:id="rId8"/>
    <p:sldId id="269" r:id="rId9"/>
    <p:sldId id="266" r:id="rId10"/>
    <p:sldId id="259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8CBDEA7-4C32-F440-BB9B-085F90937024}">
          <p14:sldIdLst>
            <p14:sldId id="256"/>
          </p14:sldIdLst>
        </p14:section>
        <p14:section name="Content" id="{03846F40-34E1-C34E-B038-F1BF4D73872B}">
          <p14:sldIdLst>
            <p14:sldId id="260"/>
            <p14:sldId id="261"/>
            <p14:sldId id="263"/>
            <p14:sldId id="271"/>
            <p14:sldId id="269"/>
            <p14:sldId id="266"/>
          </p14:sldIdLst>
        </p14:section>
        <p14:section name="End Card" id="{48F549AA-6A63-1542-9A3A-8DD645273566}">
          <p14:sldIdLst>
            <p14:sldId id="259"/>
            <p14:sldId id="272"/>
          </p14:sldIdLst>
        </p14:section>
        <p14:section name="Design Assets / DO NOT USE" id="{CD7C4269-03E8-304F-A6A3-EBF87D4A8DC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5"/>
    <a:srgbClr val="554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613"/>
    <p:restoredTop sz="86408"/>
  </p:normalViewPr>
  <p:slideViewPr>
    <p:cSldViewPr snapToGrid="0">
      <p:cViewPr varScale="1">
        <p:scale>
          <a:sx n="90" d="100"/>
          <a:sy n="90" d="100"/>
        </p:scale>
        <p:origin x="208" y="888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anded blue background with offset shadow. Featuring a Gold and white West Virginia University logo at the center bottom. ">
            <a:extLst>
              <a:ext uri="{FF2B5EF4-FFF2-40B4-BE49-F238E27FC236}">
                <a16:creationId xmlns:a16="http://schemas.microsoft.com/office/drawing/2014/main" id="{0E15ADB5-91B7-09A0-0360-0C18997F2C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189"/>
          <a:stretch>
            <a:fillRect/>
          </a:stretch>
        </p:blipFill>
        <p:spPr>
          <a:xfrm>
            <a:off x="0" y="0"/>
            <a:ext cx="12192000" cy="66393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5E449A-1BEC-CEE8-5DC9-98B8032D61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solidFill>
                  <a:schemeClr val="tx2"/>
                </a:solidFill>
                <a:latin typeface="Config Extra Bold" pitchFamily="2" charset="77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F0FDB-0A2A-A8F1-1D0C-61687F646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1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ol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anded gold background with offset shadow. Featuring a blue West Virginia University logo at the center bottom. ">
            <a:extLst>
              <a:ext uri="{FF2B5EF4-FFF2-40B4-BE49-F238E27FC236}">
                <a16:creationId xmlns:a16="http://schemas.microsoft.com/office/drawing/2014/main" id="{32E68503-D3A0-45A5-3B6C-DD65927F73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333"/>
          <a:stretch>
            <a:fillRect/>
          </a:stretch>
        </p:blipFill>
        <p:spPr>
          <a:xfrm>
            <a:off x="0" y="0"/>
            <a:ext cx="12192000" cy="6629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5E449A-1BEC-CEE8-5DC9-98B8032D61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solidFill>
                  <a:schemeClr val="tx1"/>
                </a:solidFill>
                <a:latin typeface="Config Extra Bold" pitchFamily="2" charset="77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F0FDB-0A2A-A8F1-1D0C-61687F646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57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VU-Content: General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DD10-C9DF-31DA-0F0A-7D71A094E8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12574"/>
            <a:ext cx="9144000" cy="1868556"/>
          </a:xfrm>
          <a:prstGeom prst="rect">
            <a:avLst/>
          </a:prstGeom>
        </p:spPr>
        <p:txBody>
          <a:bodyPr anchor="b"/>
          <a:lstStyle>
            <a:lvl1pPr algn="ctr">
              <a:defRPr sz="4400" b="1" i="0">
                <a:solidFill>
                  <a:srgbClr val="002855"/>
                </a:solidFill>
                <a:latin typeface="Config Extra Bold" pitchFamily="2" charset="77"/>
              </a:defRPr>
            </a:lvl1pPr>
          </a:lstStyle>
          <a:p>
            <a:r>
              <a:rPr lang="en-US" dirty="0"/>
              <a:t>Large Copy Header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F540-5B33-0165-C70C-2EA8213F3F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081130"/>
            <a:ext cx="9144000" cy="24748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solidFill>
                  <a:srgbClr val="5547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Body copy…</a:t>
            </a:r>
          </a:p>
        </p:txBody>
      </p:sp>
    </p:spTree>
    <p:extLst>
      <p:ext uri="{BB962C8B-B14F-4D97-AF65-F5344CB8AC3E}">
        <p14:creationId xmlns:p14="http://schemas.microsoft.com/office/powerpoint/2010/main" val="138637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WVU-Content: Copy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7BE4-E705-86A4-7198-CCB2642DB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2635" y="987424"/>
            <a:ext cx="3569390" cy="1069975"/>
          </a:xfrm>
          <a:prstGeom prst="rect">
            <a:avLst/>
          </a:prstGeom>
        </p:spPr>
        <p:txBody>
          <a:bodyPr anchor="b"/>
          <a:lstStyle>
            <a:lvl1pPr>
              <a:defRPr sz="3200" b="1" i="0">
                <a:solidFill>
                  <a:srgbClr val="002855"/>
                </a:solidFill>
                <a:latin typeface="Config Extra Bold" pitchFamily="2" charset="77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5380B-7381-4FC7-4472-90DDC473E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5680282" cy="4558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A895C-8481-9308-A3DC-2A9A350180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02635" y="2057400"/>
            <a:ext cx="35693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solidFill>
                  <a:srgbClr val="5547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Body copy …</a:t>
            </a:r>
          </a:p>
        </p:txBody>
      </p:sp>
    </p:spTree>
    <p:extLst>
      <p:ext uri="{BB962C8B-B14F-4D97-AF65-F5344CB8AC3E}">
        <p14:creationId xmlns:p14="http://schemas.microsoft.com/office/powerpoint/2010/main" val="272351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VU-Content: Bullet List Inserts-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0850-DAE1-BB4D-DEF7-9B706D29F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8348" y="894520"/>
            <a:ext cx="9405730" cy="915436"/>
          </a:xfrm>
          <a:prstGeom prst="rect">
            <a:avLst/>
          </a:prstGeom>
        </p:spPr>
        <p:txBody>
          <a:bodyPr anchor="b"/>
          <a:lstStyle>
            <a:lvl1pPr>
              <a:defRPr sz="3200" b="1" i="0">
                <a:solidFill>
                  <a:srgbClr val="002855"/>
                </a:solidFill>
                <a:latin typeface="Config Extra Bold" pitchFamily="2" charset="77"/>
              </a:defRPr>
            </a:lvl1pPr>
          </a:lstStyle>
          <a:p>
            <a:r>
              <a:rPr lang="en-US" dirty="0"/>
              <a:t>Bulleted List / Insert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62623-6584-C1ED-347D-1004E2C84B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358348" y="1825625"/>
            <a:ext cx="9405730" cy="3978827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000" b="0" i="0">
                <a:solidFill>
                  <a:srgbClr val="5547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5547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Bullet List Item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127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VU-Content: Bullet List Inserts-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0850-DAE1-BB4D-DEF7-9B706D29F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8348" y="894520"/>
            <a:ext cx="9475304" cy="915436"/>
          </a:xfrm>
          <a:prstGeom prst="rect">
            <a:avLst/>
          </a:prstGeom>
        </p:spPr>
        <p:txBody>
          <a:bodyPr anchor="b"/>
          <a:lstStyle>
            <a:lvl1pPr>
              <a:defRPr sz="3200" b="1" i="0">
                <a:solidFill>
                  <a:srgbClr val="002855"/>
                </a:solidFill>
                <a:latin typeface="Config Extra Bold" pitchFamily="2" charset="77"/>
              </a:defRPr>
            </a:lvl1pPr>
          </a:lstStyle>
          <a:p>
            <a:r>
              <a:rPr lang="en-US" dirty="0"/>
              <a:t>Bulleted List / Insert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62623-6584-C1ED-347D-1004E2C84B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358348" y="1825625"/>
            <a:ext cx="4661451" cy="3978827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000" b="0" i="0">
                <a:solidFill>
                  <a:srgbClr val="5547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5547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Bullet List Item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4F86A33-9BE2-774A-C8B4-7E5C8FAA1B4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291469" y="1825625"/>
            <a:ext cx="4542183" cy="3978827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000" b="0" i="0">
                <a:solidFill>
                  <a:srgbClr val="5547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5547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Bullet List Item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2974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VU-Content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2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VU-EndCard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27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4B360-2E03-EBD6-EDF1-CA102F42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400" y="6535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1C3F-A4D5-3BE6-79D9-1FC66D658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65504" y="6535252"/>
            <a:ext cx="47376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Footer Info</a:t>
            </a:r>
          </a:p>
        </p:txBody>
      </p:sp>
    </p:spTree>
    <p:extLst>
      <p:ext uri="{BB962C8B-B14F-4D97-AF65-F5344CB8AC3E}">
        <p14:creationId xmlns:p14="http://schemas.microsoft.com/office/powerpoint/2010/main" val="319048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anded white background with offset shadow. Featuring a Gold Flying WV  logo at the bottom right. ">
            <a:extLst>
              <a:ext uri="{FF2B5EF4-FFF2-40B4-BE49-F238E27FC236}">
                <a16:creationId xmlns:a16="http://schemas.microsoft.com/office/drawing/2014/main" id="{2D819B0C-6B28-716E-D6CE-B16FD5B8C17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6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0" r:id="rId2"/>
    <p:sldLayoutId id="2147483661" r:id="rId3"/>
    <p:sldLayoutId id="2147483655" r:id="rId4"/>
    <p:sldLayoutId id="214748365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VU-Endcard: Blue with gold and white Let’s Go! mark centered">
            <a:extLst>
              <a:ext uri="{FF2B5EF4-FFF2-40B4-BE49-F238E27FC236}">
                <a16:creationId xmlns:a16="http://schemas.microsoft.com/office/drawing/2014/main" id="{4412A542-DDAF-86ED-C989-8F98015911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6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BFBF-8D92-1A67-AA73-4155AA8A6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Heart Failure Mortality Predictions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5F7D2-0318-B67C-56FC-251C32FC50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William Shoaf</a:t>
            </a:r>
          </a:p>
        </p:txBody>
      </p:sp>
    </p:spTree>
    <p:extLst>
      <p:ext uri="{BB962C8B-B14F-4D97-AF65-F5344CB8AC3E}">
        <p14:creationId xmlns:p14="http://schemas.microsoft.com/office/powerpoint/2010/main" val="422345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DEF3-050F-B4FD-DC28-8DE6B22C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BFA15-AFBB-459C-320C-5F82FD519A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dirty="0"/>
              <a:t>Predicting short-term heart failure mortality risk from routine measurements</a:t>
            </a:r>
          </a:p>
          <a:p>
            <a:pPr marL="342900" indent="-342900">
              <a:buFontTx/>
              <a:buChar char="-"/>
            </a:pPr>
            <a:r>
              <a:rPr lang="en-US" dirty="0"/>
              <a:t>Doctors look at routine measurements and make clinical decisions</a:t>
            </a:r>
          </a:p>
          <a:p>
            <a:pPr marL="342900" indent="-342900">
              <a:buFontTx/>
              <a:buChar char="-"/>
            </a:pPr>
            <a:r>
              <a:rPr lang="en-US" dirty="0"/>
              <a:t>Make a model that can alert a care team of mortality risk during follow-up period from admission measurements</a:t>
            </a:r>
          </a:p>
          <a:p>
            <a:pPr marL="800100" lvl="1" indent="-342900">
              <a:buFontTx/>
              <a:buChar char="-"/>
            </a:pPr>
            <a:r>
              <a:rPr lang="en-US" dirty="0"/>
              <a:t>The care team can react faster to any missed risk indicators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3C846-88B9-7F10-062F-F84FA9763E38}"/>
              </a:ext>
            </a:extLst>
          </p:cNvPr>
          <p:cNvSpPr txBox="1"/>
          <p:nvPr/>
        </p:nvSpPr>
        <p:spPr>
          <a:xfrm flipH="1">
            <a:off x="4689606" y="3815038"/>
            <a:ext cx="2812787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Model</a:t>
            </a:r>
          </a:p>
          <a:p>
            <a:pPr algn="ctr"/>
            <a:r>
              <a:rPr lang="en-US" dirty="0"/>
              <a:t>Neural network maps clinical measurements, ‘x’, to a risk score, </a:t>
            </a:r>
          </a:p>
          <a:p>
            <a:pPr algn="ctr"/>
            <a:r>
              <a:rPr lang="en-US" dirty="0"/>
              <a:t>P(death | x) in the next 285 days</a:t>
            </a: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EB7A9-AB25-C091-E0E5-8155D7A38C1E}"/>
              </a:ext>
            </a:extLst>
          </p:cNvPr>
          <p:cNvSpPr txBox="1"/>
          <p:nvPr/>
        </p:nvSpPr>
        <p:spPr>
          <a:xfrm flipH="1">
            <a:off x="7800975" y="3815038"/>
            <a:ext cx="2893528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Background</a:t>
            </a:r>
            <a:endParaRPr lang="en-US" u="sng" dirty="0"/>
          </a:p>
          <a:p>
            <a:pPr algn="ctr"/>
            <a:r>
              <a:rPr lang="en-US" dirty="0"/>
              <a:t>Chicco &amp; Jurman (2020) found that ejection fraction and serum creatinine measurements predicted survival with random forests.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F09D7-96A5-ADCE-FC5B-DD5820787753}"/>
              </a:ext>
            </a:extLst>
          </p:cNvPr>
          <p:cNvSpPr txBox="1"/>
          <p:nvPr/>
        </p:nvSpPr>
        <p:spPr>
          <a:xfrm flipH="1">
            <a:off x="1358346" y="3815038"/>
            <a:ext cx="3032677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Problem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Clinic staff resources limited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52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7D20-4C2F-BB2A-B949-A0B281DCB2E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51B07-AB84-AF54-C27D-A3E19E85D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Heart Failure Clinical Records UCI</a:t>
            </a:r>
          </a:p>
          <a:p>
            <a:r>
              <a:rPr lang="en-US" dirty="0"/>
              <a:t>299 patients</a:t>
            </a:r>
          </a:p>
          <a:p>
            <a:r>
              <a:rPr lang="en-US" dirty="0"/>
              <a:t>12 clinical features</a:t>
            </a:r>
          </a:p>
          <a:p>
            <a:r>
              <a:rPr lang="en-US" dirty="0"/>
              <a:t>Binary outcome [DEATH_EVENT]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3AFB2-CB66-0182-8437-35DB9412DAF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 Problems</a:t>
            </a:r>
          </a:p>
          <a:p>
            <a:r>
              <a:rPr lang="en-US" dirty="0"/>
              <a:t>Small n (299)</a:t>
            </a:r>
          </a:p>
          <a:p>
            <a:r>
              <a:rPr lang="en-US" dirty="0"/>
              <a:t>Class imbalance (96 of 299 died during follow-up)</a:t>
            </a:r>
          </a:p>
          <a:p>
            <a:r>
              <a:rPr lang="en-US" dirty="0"/>
              <a:t>Feature scaling (i.e. platelet count 100,000s vs. serum creatinine &lt;9 )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88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250B-E080-95AB-84CE-30A46CA2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81B5E-40EB-9EFF-5D0E-FD0E93116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58348" y="1825625"/>
            <a:ext cx="9405730" cy="4275138"/>
          </a:xfrm>
        </p:spPr>
        <p:txBody>
          <a:bodyPr/>
          <a:lstStyle/>
          <a:p>
            <a:r>
              <a:rPr lang="en-US" dirty="0"/>
              <a:t>Routine labs and measurements are recorded on admittance for heart failure pt</a:t>
            </a:r>
          </a:p>
          <a:p>
            <a:r>
              <a:rPr lang="en-US" dirty="0"/>
              <a:t>The care team looks at each measurement to make clinical decisions</a:t>
            </a:r>
          </a:p>
          <a:p>
            <a:r>
              <a:rPr lang="en-US" dirty="0"/>
              <a:t>The model estimates risk of death during follow-up period</a:t>
            </a:r>
          </a:p>
          <a:p>
            <a:r>
              <a:rPr lang="en-US" dirty="0"/>
              <a:t>If the probability of a death event meets the set decision threshold, then the care team is alerted to the patient</a:t>
            </a:r>
          </a:p>
          <a:p>
            <a:r>
              <a:rPr lang="en-US" dirty="0"/>
              <a:t>The care team is able to review the measurements and take action, potentially saving the patient’s life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Deployment Problems</a:t>
            </a:r>
          </a:p>
          <a:p>
            <a:r>
              <a:rPr lang="en-US" dirty="0"/>
              <a:t>False Negative prediction much worse than a False Positive</a:t>
            </a:r>
          </a:p>
          <a:p>
            <a:r>
              <a:rPr lang="en-US" dirty="0"/>
              <a:t>Question of demographic generalizability(data from one hospital in 2015)</a:t>
            </a:r>
          </a:p>
        </p:txBody>
      </p:sp>
    </p:spTree>
    <p:extLst>
      <p:ext uri="{BB962C8B-B14F-4D97-AF65-F5344CB8AC3E}">
        <p14:creationId xmlns:p14="http://schemas.microsoft.com/office/powerpoint/2010/main" val="59275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C596-FE13-2C39-1DC3-77634175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6096CE-9DFD-17A4-1BED-8423525CA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58347" y="1825625"/>
            <a:ext cx="9585877" cy="3978827"/>
          </a:xfrm>
        </p:spPr>
        <p:txBody>
          <a:bodyPr/>
          <a:lstStyle/>
          <a:p>
            <a:r>
              <a:rPr lang="en-US" dirty="0"/>
              <a:t>12 standardized inputs → 32 hidden(</a:t>
            </a:r>
            <a:r>
              <a:rPr lang="en-US" dirty="0" err="1"/>
              <a:t>ReLU</a:t>
            </a:r>
            <a:r>
              <a:rPr lang="en-US" dirty="0"/>
              <a:t>) → 16 hidden(</a:t>
            </a:r>
            <a:r>
              <a:rPr lang="en-US" dirty="0" err="1"/>
              <a:t>ReLU</a:t>
            </a:r>
            <a:r>
              <a:rPr lang="en-US" dirty="0"/>
              <a:t>) → 1 output</a:t>
            </a:r>
          </a:p>
          <a:p>
            <a:r>
              <a:rPr lang="en-US" dirty="0"/>
              <a:t>Sigmoid of output to give probability of death event</a:t>
            </a:r>
          </a:p>
          <a:p>
            <a:r>
              <a:rPr lang="en-US" dirty="0"/>
              <a:t>Binary Cross Entropy loss compare output probability with ground truth</a:t>
            </a:r>
          </a:p>
          <a:p>
            <a:r>
              <a:rPr lang="en-US" dirty="0"/>
              <a:t>Backpropagate to compute gradients, Adam updates weights</a:t>
            </a:r>
          </a:p>
          <a:p>
            <a:r>
              <a:rPr lang="en-US" dirty="0"/>
              <a:t>Minimum of 20 epochs, max of 300</a:t>
            </a:r>
          </a:p>
          <a:p>
            <a:pPr lvl="1"/>
            <a:r>
              <a:rPr lang="en-US" dirty="0"/>
              <a:t>Early stopping with patience 20</a:t>
            </a:r>
          </a:p>
          <a:p>
            <a:r>
              <a:rPr lang="en-US" dirty="0"/>
              <a:t>Stratified 5-fold cross-validation to give 5 test scores of mean and standard deviation</a:t>
            </a:r>
          </a:p>
          <a:p>
            <a:r>
              <a:rPr lang="en-US" dirty="0"/>
              <a:t>No L2 or dropout</a:t>
            </a:r>
          </a:p>
          <a:p>
            <a:r>
              <a:rPr lang="en-US" dirty="0"/>
              <a:t>No class balancing</a:t>
            </a:r>
          </a:p>
        </p:txBody>
      </p:sp>
    </p:spTree>
    <p:extLst>
      <p:ext uri="{BB962C8B-B14F-4D97-AF65-F5344CB8AC3E}">
        <p14:creationId xmlns:p14="http://schemas.microsoft.com/office/powerpoint/2010/main" val="157312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C044-A475-D2A7-C5AA-C78F67AE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1AAAB-7926-3078-42E6-40F425B149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Experiment 1 – Class Imbalance</a:t>
            </a:r>
          </a:p>
          <a:p>
            <a:pPr lvl="1"/>
            <a:r>
              <a:rPr lang="en-US" dirty="0"/>
              <a:t>Does oversampling minority class improve recall on deaths?</a:t>
            </a:r>
          </a:p>
          <a:p>
            <a:pPr lvl="1"/>
            <a:r>
              <a:rPr lang="en-US" dirty="0"/>
              <a:t>Recall = deaths caught / total deaths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Experiment 2 – Cost Minimization</a:t>
            </a:r>
          </a:p>
          <a:p>
            <a:pPr lvl="1"/>
            <a:r>
              <a:rPr lang="en-US" dirty="0"/>
              <a:t>Which decision threshold minimizes cost?</a:t>
            </a:r>
          </a:p>
          <a:p>
            <a:pPr lvl="1"/>
            <a:r>
              <a:rPr lang="en-US" dirty="0"/>
              <a:t>Missed death much worse than false alarm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FB3F1-A813-0A86-B926-5FFFD201A8B0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91469" y="1825625"/>
            <a:ext cx="4795632" cy="3978827"/>
          </a:xfrm>
        </p:spPr>
        <p:txBody>
          <a:bodyPr/>
          <a:lstStyle/>
          <a:p>
            <a:r>
              <a:rPr lang="en-US" b="1" dirty="0"/>
              <a:t>Experiment 3 – Small n overfitting</a:t>
            </a:r>
          </a:p>
          <a:p>
            <a:pPr lvl="1"/>
            <a:r>
              <a:rPr lang="en-US" dirty="0"/>
              <a:t>Does regularizing improve the generalizability?</a:t>
            </a:r>
          </a:p>
          <a:p>
            <a:pPr lvl="1"/>
            <a:r>
              <a:rPr lang="en-US" dirty="0"/>
              <a:t>Training loss might go to 0 while validation loss is high</a:t>
            </a:r>
          </a:p>
          <a:p>
            <a:pPr lvl="1"/>
            <a:r>
              <a:rPr lang="en-US" dirty="0"/>
              <a:t>Try L2 and dropout</a:t>
            </a:r>
          </a:p>
          <a:p>
            <a:pPr lvl="1"/>
            <a:endParaRPr lang="en-US" dirty="0"/>
          </a:p>
          <a:p>
            <a:r>
              <a:rPr lang="en-US" b="1" dirty="0"/>
              <a:t>Experiment 4 – Feature Scaling</a:t>
            </a:r>
          </a:p>
          <a:p>
            <a:pPr lvl="1"/>
            <a:r>
              <a:rPr lang="en-US" dirty="0"/>
              <a:t>How does standardizing inputs improve convergence speed and validation loss over raw inputs?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0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471DF-2E20-AEE4-AA2C-9217B13A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BD9A-D114-EFD1-D635-C86B659C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Cost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365DA-9093-4A38-1B19-850BFBA26A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Research Question/Reasoning</a:t>
            </a:r>
          </a:p>
          <a:p>
            <a:r>
              <a:rPr lang="en-US" dirty="0"/>
              <a:t>Where should the decision threshold be?</a:t>
            </a:r>
          </a:p>
          <a:p>
            <a:r>
              <a:rPr lang="en-US" dirty="0"/>
              <a:t>Missing a death prediction is much more costly than a false alarm</a:t>
            </a:r>
          </a:p>
          <a:p>
            <a:pPr marL="0" indent="0">
              <a:buNone/>
            </a:pPr>
            <a:r>
              <a:rPr lang="en-US" dirty="0"/>
              <a:t>For example: </a:t>
            </a:r>
          </a:p>
          <a:p>
            <a:r>
              <a:rPr lang="en-US" dirty="0"/>
              <a:t>Correct Decisions = 0 unit cost</a:t>
            </a:r>
          </a:p>
          <a:p>
            <a:r>
              <a:rPr lang="en-US" dirty="0"/>
              <a:t>False Positive = 1 unit cost</a:t>
            </a:r>
          </a:p>
          <a:p>
            <a:r>
              <a:rPr lang="en-US" dirty="0"/>
              <a:t>False Negative = 20 unit cost (missed death prediction)</a:t>
            </a:r>
          </a:p>
          <a:p>
            <a:pPr lvl="1"/>
            <a:r>
              <a:rPr lang="en-US" dirty="0"/>
              <a:t>Repeat for different cost ratios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D786F-1C52-1400-EA8A-8F76E082A2B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91469" y="1825625"/>
            <a:ext cx="5267119" cy="43037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Experiment Design</a:t>
            </a:r>
          </a:p>
          <a:p>
            <a:pPr marL="457200" indent="-457200">
              <a:buAutoNum type="arabicPeriod"/>
            </a:pPr>
            <a:r>
              <a:rPr lang="en-US" dirty="0"/>
              <a:t>Train model with plain BCE in each CV fold (239/299 total patients)</a:t>
            </a:r>
          </a:p>
          <a:p>
            <a:pPr marL="457200" indent="-457200">
              <a:buAutoNum type="arabicPeriod"/>
            </a:pPr>
            <a:r>
              <a:rPr lang="en-US" dirty="0"/>
              <a:t>On a validation split of training folds, try thresholds from 0.01 to 0.95 increment by 0.01</a:t>
            </a:r>
          </a:p>
          <a:p>
            <a:pPr marL="914400" lvl="1" indent="-457200">
              <a:buAutoNum type="arabicPeriod"/>
            </a:pPr>
            <a:r>
              <a:rPr lang="en-US" dirty="0"/>
              <a:t>Keep threshold that minimizes expected cost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/>
              <a:t>Average Cost = [20xFNs + 1xFPs]/N</a:t>
            </a:r>
          </a:p>
          <a:p>
            <a:pPr marL="457200" indent="-457200">
              <a:buAutoNum type="arabicPeriod"/>
            </a:pPr>
            <a:r>
              <a:rPr lang="en-US" dirty="0"/>
              <a:t>Calculate theoretical optimal decision threshold based on cost ratios</a:t>
            </a:r>
          </a:p>
          <a:p>
            <a:pPr marL="914400" lvl="1" indent="-457200">
              <a:buAutoNum type="arabicPeriod"/>
            </a:pPr>
            <a:r>
              <a:rPr lang="en-US" dirty="0"/>
              <a:t>Theoretical optimum = 1/(1+20) = 0.048</a:t>
            </a:r>
          </a:p>
          <a:p>
            <a:pPr marL="457200" indent="-457200">
              <a:buAutoNum type="arabicPeriod"/>
            </a:pPr>
            <a:r>
              <a:rPr lang="en-US" dirty="0"/>
              <a:t>Test base, theoretical, and decision thresholds on the held out test fold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5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8DE62-E526-597C-D591-0D0B4E898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anchor="b"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130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6CBE4-2C67-7C33-31EB-44F72ABE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DB6CEB-C979-012B-FAF3-06A416B38C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Chicco, D., Jurman, G. Machine learning can predict survival of patients with heart failure from serum creatinine and ejection fraction alone. </a:t>
            </a:r>
            <a:r>
              <a:rPr lang="en-US" i="1" dirty="0"/>
              <a:t>BMC Med Inform </a:t>
            </a:r>
            <a:r>
              <a:rPr lang="en-US" i="1" dirty="0" err="1"/>
              <a:t>Decis</a:t>
            </a:r>
            <a:r>
              <a:rPr lang="en-US" i="1" dirty="0"/>
              <a:t> Mak</a:t>
            </a:r>
            <a:r>
              <a:rPr lang="en-US" dirty="0"/>
              <a:t> </a:t>
            </a:r>
            <a:r>
              <a:rPr lang="en-US" b="1" dirty="0"/>
              <a:t>20</a:t>
            </a:r>
            <a:r>
              <a:rPr lang="en-US" dirty="0"/>
              <a:t>, 16 (2020). https://</a:t>
            </a:r>
            <a:r>
              <a:rPr lang="en-US" dirty="0" err="1"/>
              <a:t>doi.org</a:t>
            </a:r>
            <a:r>
              <a:rPr lang="en-US" dirty="0"/>
              <a:t>/10.1186/s12911-020-1023-5</a:t>
            </a:r>
          </a:p>
        </p:txBody>
      </p:sp>
    </p:spTree>
    <p:extLst>
      <p:ext uri="{BB962C8B-B14F-4D97-AF65-F5344CB8AC3E}">
        <p14:creationId xmlns:p14="http://schemas.microsoft.com/office/powerpoint/2010/main" val="90493921"/>
      </p:ext>
    </p:extLst>
  </p:cSld>
  <p:clrMapOvr>
    <a:masterClrMapping/>
  </p:clrMapOvr>
</p:sld>
</file>

<file path=ppt/theme/theme1.xml><?xml version="1.0" encoding="utf-8"?>
<a:theme xmlns:a="http://schemas.openxmlformats.org/drawingml/2006/main" name="WVU-Title Slides">
  <a:themeElements>
    <a:clrScheme name="Custom 1">
      <a:dk1>
        <a:srgbClr val="002855"/>
      </a:dk1>
      <a:lt1>
        <a:srgbClr val="FFF9F5"/>
      </a:lt1>
      <a:dk2>
        <a:srgbClr val="EDAA00"/>
      </a:dk2>
      <a:lt2>
        <a:srgbClr val="F58671"/>
      </a:lt2>
      <a:accent1>
        <a:srgbClr val="156082"/>
      </a:accent1>
      <a:accent2>
        <a:srgbClr val="F7DD62"/>
      </a:accent2>
      <a:accent3>
        <a:srgbClr val="002854"/>
      </a:accent3>
      <a:accent4>
        <a:srgbClr val="554741"/>
      </a:accent4>
      <a:accent5>
        <a:srgbClr val="FFF9F5"/>
      </a:accent5>
      <a:accent6>
        <a:srgbClr val="FFF9F5"/>
      </a:accent6>
      <a:hlink>
        <a:srgbClr val="0062A3"/>
      </a:hlink>
      <a:folHlink>
        <a:srgbClr val="0061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CC56D107-9579-40F0-8C49-5D4F164EFC44}" vid="{6333EE66-F028-4B6F-B75F-D658D563E9F7}"/>
    </a:ext>
  </a:extLst>
</a:theme>
</file>

<file path=ppt/theme/theme2.xml><?xml version="1.0" encoding="utf-8"?>
<a:theme xmlns:a="http://schemas.openxmlformats.org/drawingml/2006/main" name="WVU-Content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CC56D107-9579-40F0-8C49-5D4F164EFC44}" vid="{5F574B44-F8A1-45C7-BAC0-6CF58EBE8462}"/>
    </a:ext>
  </a:extLst>
</a:theme>
</file>

<file path=ppt/theme/theme3.xml><?xml version="1.0" encoding="utf-8"?>
<a:theme xmlns:a="http://schemas.openxmlformats.org/drawingml/2006/main" name="WVU-EndCard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CC56D107-9579-40F0-8C49-5D4F164EFC44}" vid="{61990BCA-5DDC-43EF-BF5D-FDF76E2C43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WVU-Title Slides</Template>
  <TotalTime>10027</TotalTime>
  <Words>612</Words>
  <Application>Microsoft Macintosh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Config Extra Bold</vt:lpstr>
      <vt:lpstr>WVU-Title Slides</vt:lpstr>
      <vt:lpstr>WVU-Content Slides</vt:lpstr>
      <vt:lpstr>WVU-EndCard</vt:lpstr>
      <vt:lpstr>Heart Failure Mortality Predictions</vt:lpstr>
      <vt:lpstr>Problem Definition</vt:lpstr>
      <vt:lpstr>Dataset</vt:lpstr>
      <vt:lpstr>Deployment Environment</vt:lpstr>
      <vt:lpstr>Base Model</vt:lpstr>
      <vt:lpstr>Experiment Overview</vt:lpstr>
      <vt:lpstr>Experiment 2: Cost Evaluation</vt:lpstr>
      <vt:lpstr>Thank you!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Shoaf, William</dc:creator>
  <cp:keywords/>
  <dc:description/>
  <cp:lastModifiedBy>Shoaf, William</cp:lastModifiedBy>
  <cp:revision>9</cp:revision>
  <dcterms:created xsi:type="dcterms:W3CDTF">2026-09-29T22:28:27Z</dcterms:created>
  <dcterms:modified xsi:type="dcterms:W3CDTF">2026-10-06T21:35:59Z</dcterms:modified>
  <cp:category/>
</cp:coreProperties>
</file>